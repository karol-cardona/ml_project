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554501-469E-47B9-8B10-0BB8ECCFE873}">
  <a:tblStyle styleId="{CE554501-469E-47B9-8B10-0BB8ECCFE8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Hello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4a1a532bb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4a1a532b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067684941_0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06768494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4a1a532bb_0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4a1a532b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4a1a532bb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4a1a532b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7fd2b2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7fd2b2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7fd2b22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7fd2b22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f7fd2b22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f7fd2b22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4b3a08c0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4b3a08c0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4b3a08c0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4b3a08c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7fd2b22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f7fd2b22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4b3a08c0f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4b3a08c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7fd2b2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7fd2b2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4b3a08c0f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4b3a08c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80677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ML Project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9436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Presented To: Prof. Alessio Micheli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Presented By: Karol Cardona and Udit Gagnani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Presented On: XYZ ABC, 2025</a:t>
            </a:r>
            <a:endParaRPr sz="16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598200" y="172177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Master Degree in Computer Science (AI)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Project Type: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Design and develop a framework from scratch to build a </a:t>
            </a:r>
            <a:r>
              <a:rPr b="1" lang="it">
                <a:solidFill>
                  <a:srgbClr val="00FFFF"/>
                </a:solidFill>
              </a:rPr>
              <a:t>neural network</a:t>
            </a:r>
            <a:r>
              <a:rPr lang="it"/>
              <a:t> that can efficiently handle </a:t>
            </a:r>
            <a:r>
              <a:rPr b="1" lang="it">
                <a:solidFill>
                  <a:srgbClr val="00FFFF"/>
                </a:solidFill>
              </a:rPr>
              <a:t>classification</a:t>
            </a:r>
            <a:r>
              <a:rPr lang="it"/>
              <a:t> and </a:t>
            </a:r>
            <a:r>
              <a:rPr b="1" lang="it">
                <a:solidFill>
                  <a:srgbClr val="00FFFF"/>
                </a:solidFill>
              </a:rPr>
              <a:t>regression</a:t>
            </a:r>
            <a:r>
              <a:rPr lang="it"/>
              <a:t> tasks.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it"/>
              <a:t>Moreover, the framework has been rigorously evaluated on </a:t>
            </a:r>
            <a:r>
              <a:rPr b="1" lang="it">
                <a:solidFill>
                  <a:srgbClr val="00FFFF"/>
                </a:solidFill>
              </a:rPr>
              <a:t>Monk’s problem</a:t>
            </a:r>
            <a:r>
              <a:rPr lang="it"/>
              <a:t> and subsequently applied on </a:t>
            </a:r>
            <a:r>
              <a:rPr b="1" lang="it">
                <a:solidFill>
                  <a:srgbClr val="00FFFF"/>
                </a:solidFill>
              </a:rPr>
              <a:t>ML-CUP</a:t>
            </a:r>
            <a:r>
              <a:rPr lang="it"/>
              <a:t> dataset, showcasing its versatility and effectiveness in real-world machine learning tasks.</a:t>
            </a:r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369600" y="724200"/>
            <a:ext cx="3837000" cy="38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4800">
                <a:solidFill>
                  <a:schemeClr val="dk1"/>
                </a:solidFill>
              </a:rPr>
              <a:t>Objectives</a:t>
            </a:r>
            <a:endParaRPr sz="4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/>
              <a:t>We developed a </a:t>
            </a:r>
            <a:r>
              <a:rPr b="1" lang="it">
                <a:solidFill>
                  <a:srgbClr val="00FFFF"/>
                </a:solidFill>
              </a:rPr>
              <a:t>multi-layer</a:t>
            </a:r>
            <a:r>
              <a:rPr lang="it"/>
              <a:t> fully connected feed-forward neural network, utilizing </a:t>
            </a:r>
            <a:r>
              <a:rPr b="1" lang="it">
                <a:solidFill>
                  <a:srgbClr val="00FFFF"/>
                </a:solidFill>
              </a:rPr>
              <a:t>backpropagation</a:t>
            </a:r>
            <a:r>
              <a:rPr lang="it"/>
              <a:t> for weight optimization. The training process employs </a:t>
            </a:r>
            <a:r>
              <a:rPr b="1" lang="it">
                <a:solidFill>
                  <a:srgbClr val="00FFFF"/>
                </a:solidFill>
              </a:rPr>
              <a:t>mini-batch gradient descent</a:t>
            </a:r>
            <a:r>
              <a:rPr lang="it"/>
              <a:t> ensuring efficient convergence by iteratively minimizing the error function, thereby boosting the overall performance and generalization capability of the model. </a:t>
            </a:r>
            <a:endParaRPr/>
          </a:p>
        </p:txBody>
      </p:sp>
      <p:sp>
        <p:nvSpPr>
          <p:cNvPr id="99" name="Google Shape;99;p15"/>
          <p:cNvSpPr txBox="1"/>
          <p:nvPr>
            <p:ph idx="2" type="body"/>
          </p:nvPr>
        </p:nvSpPr>
        <p:spPr>
          <a:xfrm>
            <a:off x="369600" y="724200"/>
            <a:ext cx="3837000" cy="38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4800">
                <a:solidFill>
                  <a:schemeClr val="dk1"/>
                </a:solidFill>
              </a:rPr>
              <a:t>Method</a:t>
            </a:r>
            <a:endParaRPr sz="4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Explorations</a:t>
            </a:r>
            <a:endParaRPr/>
          </a:p>
        </p:txBody>
      </p:sp>
      <p:grpSp>
        <p:nvGrpSpPr>
          <p:cNvPr id="105" name="Google Shape;105;p16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06" name="Google Shape;106;p1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6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Activation Functions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9" name="Google Shape;109;p16"/>
          <p:cNvSpPr txBox="1"/>
          <p:nvPr>
            <p:ph idx="4294967295" type="body"/>
          </p:nvPr>
        </p:nvSpPr>
        <p:spPr>
          <a:xfrm>
            <a:off x="508150" y="1712475"/>
            <a:ext cx="26289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150">
                <a:solidFill>
                  <a:srgbClr val="000000"/>
                </a:solidFill>
              </a:rPr>
              <a:t>Sigmoid =&gt; σ(x) = 1 / (1+e</a:t>
            </a:r>
            <a:r>
              <a:rPr b="1" baseline="30000" lang="it" sz="1150">
                <a:solidFill>
                  <a:srgbClr val="000000"/>
                </a:solidFill>
              </a:rPr>
              <a:t>−x</a:t>
            </a:r>
            <a:r>
              <a:rPr b="1" lang="it" sz="1150">
                <a:solidFill>
                  <a:srgbClr val="000000"/>
                </a:solidFill>
              </a:rPr>
              <a:t>)​</a:t>
            </a:r>
            <a:endParaRPr b="1" sz="11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150">
                <a:solidFill>
                  <a:srgbClr val="000000"/>
                </a:solidFill>
              </a:rPr>
              <a:t>TanH =&gt; tanh(x) = (</a:t>
            </a:r>
            <a:r>
              <a:rPr b="1" lang="it" sz="1150">
                <a:solidFill>
                  <a:srgbClr val="000000"/>
                </a:solidFill>
              </a:rPr>
              <a:t>e</a:t>
            </a:r>
            <a:r>
              <a:rPr b="1" baseline="30000" lang="it" sz="1150">
                <a:solidFill>
                  <a:srgbClr val="000000"/>
                </a:solidFill>
              </a:rPr>
              <a:t>x</a:t>
            </a:r>
            <a:r>
              <a:rPr b="1" lang="it" sz="1150">
                <a:solidFill>
                  <a:srgbClr val="000000"/>
                </a:solidFill>
              </a:rPr>
              <a:t>−e</a:t>
            </a:r>
            <a:r>
              <a:rPr b="1" baseline="30000" lang="it" sz="1150">
                <a:solidFill>
                  <a:srgbClr val="000000"/>
                </a:solidFill>
              </a:rPr>
              <a:t>−x</a:t>
            </a:r>
            <a:r>
              <a:rPr b="1" lang="it" sz="1150">
                <a:solidFill>
                  <a:srgbClr val="000000"/>
                </a:solidFill>
              </a:rPr>
              <a:t>)/(</a:t>
            </a:r>
            <a:r>
              <a:rPr b="1" lang="it" sz="1150">
                <a:solidFill>
                  <a:srgbClr val="000000"/>
                </a:solidFill>
              </a:rPr>
              <a:t>e</a:t>
            </a:r>
            <a:r>
              <a:rPr b="1" baseline="30000" lang="it" sz="1150">
                <a:solidFill>
                  <a:srgbClr val="000000"/>
                </a:solidFill>
              </a:rPr>
              <a:t>x</a:t>
            </a:r>
            <a:r>
              <a:rPr b="1" lang="it" sz="1150">
                <a:solidFill>
                  <a:srgbClr val="000000"/>
                </a:solidFill>
              </a:rPr>
              <a:t>+e</a:t>
            </a:r>
            <a:r>
              <a:rPr b="1" baseline="30000" lang="it" sz="1150">
                <a:solidFill>
                  <a:srgbClr val="000000"/>
                </a:solidFill>
              </a:rPr>
              <a:t>−x</a:t>
            </a:r>
            <a:r>
              <a:rPr b="1" lang="it" sz="1150">
                <a:solidFill>
                  <a:srgbClr val="000000"/>
                </a:solidFill>
              </a:rPr>
              <a:t>) ​</a:t>
            </a:r>
            <a:endParaRPr b="1" sz="11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150">
                <a:solidFill>
                  <a:srgbClr val="000000"/>
                </a:solidFill>
              </a:rPr>
              <a:t>ReLU =&gt; ReLU(x) = max(0, x)</a:t>
            </a:r>
            <a:endParaRPr b="1" sz="11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150">
                <a:solidFill>
                  <a:srgbClr val="000000"/>
                </a:solidFill>
              </a:rPr>
              <a:t>ELU =&gt; ELU(x) = x </a:t>
            </a:r>
            <a:r>
              <a:rPr b="1" lang="it" sz="1150">
                <a:solidFill>
                  <a:srgbClr val="000000"/>
                </a:solidFill>
              </a:rPr>
              <a:t>if x≥0 </a:t>
            </a:r>
            <a:endParaRPr b="1" sz="11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150">
                <a:solidFill>
                  <a:srgbClr val="000000"/>
                </a:solidFill>
              </a:rPr>
              <a:t>        =&gt; ELU(x) = </a:t>
            </a:r>
            <a:r>
              <a:rPr b="1" lang="it" sz="1150">
                <a:solidFill>
                  <a:srgbClr val="000000"/>
                </a:solidFill>
              </a:rPr>
              <a:t>α(e</a:t>
            </a:r>
            <a:r>
              <a:rPr b="1" baseline="30000" lang="it" sz="1150">
                <a:solidFill>
                  <a:srgbClr val="000000"/>
                </a:solidFill>
              </a:rPr>
              <a:t>x</a:t>
            </a:r>
            <a:r>
              <a:rPr b="1" lang="it" sz="1150">
                <a:solidFill>
                  <a:srgbClr val="000000"/>
                </a:solidFill>
              </a:rPr>
              <a:t>−1) ​if x&lt;0​</a:t>
            </a:r>
            <a:endParaRPr b="1" sz="11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150">
                <a:solidFill>
                  <a:srgbClr val="000000"/>
                </a:solidFill>
              </a:rPr>
              <a:t>Leaky_ReLU</a:t>
            </a:r>
            <a:r>
              <a:rPr b="1" lang="it" sz="1150">
                <a:solidFill>
                  <a:srgbClr val="000000"/>
                </a:solidFill>
              </a:rPr>
              <a:t> </a:t>
            </a:r>
            <a:endParaRPr b="1" sz="11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150">
                <a:solidFill>
                  <a:srgbClr val="000000"/>
                </a:solidFill>
              </a:rPr>
              <a:t>        =&gt; Leaky ReLU(x) = x if x≥0 </a:t>
            </a:r>
            <a:endParaRPr b="1" sz="11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150">
                <a:solidFill>
                  <a:srgbClr val="000000"/>
                </a:solidFill>
              </a:rPr>
              <a:t>        =&gt; Leaky ReLU(x) = 0.01x ​if x&lt;0​</a:t>
            </a:r>
            <a:endParaRPr b="1" sz="1150">
              <a:solidFill>
                <a:srgbClr val="000000"/>
              </a:solidFill>
            </a:endParaRPr>
          </a:p>
        </p:txBody>
      </p:sp>
      <p:grpSp>
        <p:nvGrpSpPr>
          <p:cNvPr id="110" name="Google Shape;110;p16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11" name="Google Shape;111;p16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6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Weight Initializations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4" name="Google Shape;114;p16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50">
                <a:solidFill>
                  <a:srgbClr val="000000"/>
                </a:solidFill>
              </a:rPr>
              <a:t>Gaussian =&gt; W∼N(μ, σ</a:t>
            </a:r>
            <a:r>
              <a:rPr baseline="30000" lang="it" sz="1250">
                <a:solidFill>
                  <a:srgbClr val="000000"/>
                </a:solidFill>
              </a:rPr>
              <a:t>2</a:t>
            </a:r>
            <a:r>
              <a:rPr lang="it" sz="1250">
                <a:solidFill>
                  <a:srgbClr val="000000"/>
                </a:solidFill>
              </a:rPr>
              <a:t>)</a:t>
            </a:r>
            <a:endParaRPr sz="12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</a:rPr>
              <a:t>Where μ and σ are the mean and standard deviation from the init_range parameter, respectively.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50">
                <a:solidFill>
                  <a:srgbClr val="000000"/>
                </a:solidFill>
              </a:rPr>
              <a:t>Xavier =&gt; W∼N(0, 1/n</a:t>
            </a:r>
            <a:r>
              <a:rPr baseline="-25000" lang="it" sz="1250">
                <a:solidFill>
                  <a:srgbClr val="000000"/>
                </a:solidFill>
              </a:rPr>
              <a:t>in</a:t>
            </a:r>
            <a:r>
              <a:rPr lang="it" sz="1250">
                <a:solidFill>
                  <a:srgbClr val="000000"/>
                </a:solidFill>
              </a:rPr>
              <a:t>​​) </a:t>
            </a:r>
            <a:endParaRPr sz="12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</a:rPr>
              <a:t>Where n</a:t>
            </a:r>
            <a:r>
              <a:rPr baseline="-25000" lang="it" sz="1100">
                <a:solidFill>
                  <a:srgbClr val="000000"/>
                </a:solidFill>
              </a:rPr>
              <a:t>in</a:t>
            </a:r>
            <a:r>
              <a:rPr lang="it" sz="1100">
                <a:solidFill>
                  <a:srgbClr val="000000"/>
                </a:solidFill>
              </a:rPr>
              <a:t>​ is the number of input units for the layer.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50">
                <a:solidFill>
                  <a:srgbClr val="000000"/>
                </a:solidFill>
              </a:rPr>
              <a:t>He =&gt; </a:t>
            </a:r>
            <a:r>
              <a:rPr lang="it" sz="1250">
                <a:solidFill>
                  <a:srgbClr val="000000"/>
                </a:solidFill>
              </a:rPr>
              <a:t>W∼N(0, 2/n</a:t>
            </a:r>
            <a:r>
              <a:rPr baseline="-25000" lang="it" sz="1250">
                <a:solidFill>
                  <a:srgbClr val="000000"/>
                </a:solidFill>
              </a:rPr>
              <a:t>in</a:t>
            </a:r>
            <a:r>
              <a:rPr lang="it" sz="1250">
                <a:solidFill>
                  <a:srgbClr val="000000"/>
                </a:solidFill>
              </a:rPr>
              <a:t>​​)</a:t>
            </a:r>
            <a:endParaRPr sz="12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50">
                <a:solidFill>
                  <a:srgbClr val="000000"/>
                </a:solidFill>
              </a:rPr>
              <a:t>Glorot </a:t>
            </a:r>
            <a:endParaRPr sz="12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50">
                <a:solidFill>
                  <a:srgbClr val="000000"/>
                </a:solidFill>
              </a:rPr>
              <a:t>Orthogonal </a:t>
            </a:r>
            <a:endParaRPr sz="12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50">
                <a:solidFill>
                  <a:srgbClr val="000000"/>
                </a:solidFill>
              </a:rPr>
              <a:t>Range</a:t>
            </a:r>
            <a:endParaRPr sz="1250">
              <a:solidFill>
                <a:srgbClr val="000000"/>
              </a:solidFill>
            </a:endParaRPr>
          </a:p>
        </p:txBody>
      </p:sp>
      <p:grpSp>
        <p:nvGrpSpPr>
          <p:cNvPr id="115" name="Google Shape;115;p16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16" name="Google Shape;116;p16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6"/>
          <p:cNvSpPr txBox="1"/>
          <p:nvPr>
            <p:ph idx="4294967295" type="body"/>
          </p:nvPr>
        </p:nvSpPr>
        <p:spPr>
          <a:xfrm>
            <a:off x="6272475" y="1304875"/>
            <a:ext cx="25599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Other Techniques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9" name="Google Shape;119;p16"/>
          <p:cNvSpPr txBox="1"/>
          <p:nvPr>
            <p:ph idx="4294967295" type="body"/>
          </p:nvPr>
        </p:nvSpPr>
        <p:spPr>
          <a:xfrm>
            <a:off x="6286475" y="1766275"/>
            <a:ext cx="24786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00"/>
                </a:solidFill>
              </a:rPr>
              <a:t>Momentum</a:t>
            </a:r>
            <a:r>
              <a:rPr b="1" lang="it" sz="1000">
                <a:solidFill>
                  <a:srgbClr val="000000"/>
                </a:solidFill>
              </a:rPr>
              <a:t> </a:t>
            </a:r>
            <a:endParaRPr b="1" sz="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00"/>
                </a:solidFill>
              </a:rPr>
              <a:t>Nesterov Momentum</a:t>
            </a:r>
            <a:r>
              <a:rPr b="1" lang="it" sz="1000">
                <a:solidFill>
                  <a:srgbClr val="000000"/>
                </a:solidFill>
              </a:rPr>
              <a:t> </a:t>
            </a:r>
            <a:endParaRPr b="1" sz="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00"/>
                </a:solidFill>
              </a:rPr>
              <a:t>Hold - Out 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00"/>
                </a:solidFill>
              </a:rPr>
              <a:t>K-fold Cross Validation</a:t>
            </a:r>
            <a:r>
              <a:rPr b="1" lang="it" sz="1000">
                <a:solidFill>
                  <a:srgbClr val="000000"/>
                </a:solidFill>
              </a:rPr>
              <a:t> </a:t>
            </a:r>
            <a:endParaRPr b="1" sz="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00"/>
                </a:solidFill>
              </a:rPr>
              <a:t>Early Stopping 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00"/>
                </a:solidFill>
              </a:rPr>
              <a:t>Dropout 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00"/>
                </a:solidFill>
              </a:rPr>
              <a:t>Learning Rate Decay</a:t>
            </a:r>
            <a:r>
              <a:rPr b="1" lang="it" sz="1000">
                <a:solidFill>
                  <a:srgbClr val="000000"/>
                </a:solidFill>
              </a:rPr>
              <a:t> </a:t>
            </a:r>
            <a:endParaRPr b="1" sz="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00"/>
                </a:solidFill>
              </a:rPr>
              <a:t>Balancing Data 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00"/>
                </a:solidFill>
              </a:rPr>
              <a:t>Random &amp; Grid Search</a:t>
            </a:r>
            <a:endParaRPr b="1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000"/>
              <a:t>Working with Monk Dataset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2" type="body"/>
          </p:nvPr>
        </p:nvSpPr>
        <p:spPr>
          <a:xfrm>
            <a:off x="5005775" y="585375"/>
            <a:ext cx="3723300" cy="356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The input features of the Monk’s datasets were preprocessed using</a:t>
            </a:r>
            <a:r>
              <a:rPr b="1" lang="it" sz="1600">
                <a:solidFill>
                  <a:srgbClr val="00FFFF"/>
                </a:solidFill>
              </a:rPr>
              <a:t> one-hot encoding</a:t>
            </a:r>
            <a:r>
              <a:rPr lang="it" sz="1600"/>
              <a:t>, resulting in an input layer with 17 units. </a:t>
            </a:r>
            <a:endParaRPr sz="1600"/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it" sz="1600"/>
              <a:t>For </a:t>
            </a:r>
            <a:r>
              <a:rPr b="1" lang="it" sz="1600">
                <a:solidFill>
                  <a:srgbClr val="00FFFF"/>
                </a:solidFill>
              </a:rPr>
              <a:t>Monk-1 and Monk-3</a:t>
            </a:r>
            <a:r>
              <a:rPr lang="it" sz="1600"/>
              <a:t>, the </a:t>
            </a:r>
            <a:r>
              <a:rPr b="1" lang="it" sz="1600">
                <a:solidFill>
                  <a:srgbClr val="00FFFF"/>
                </a:solidFill>
              </a:rPr>
              <a:t>architecture</a:t>
            </a:r>
            <a:r>
              <a:rPr lang="it" sz="1600"/>
              <a:t> includes a </a:t>
            </a:r>
            <a:r>
              <a:rPr b="1" lang="it" sz="1600">
                <a:solidFill>
                  <a:srgbClr val="00FFFF"/>
                </a:solidFill>
              </a:rPr>
              <a:t>hidden layer with </a:t>
            </a:r>
            <a:r>
              <a:rPr b="1" lang="it" sz="1600">
                <a:solidFill>
                  <a:srgbClr val="00FFFF"/>
                </a:solidFill>
              </a:rPr>
              <a:t>--</a:t>
            </a:r>
            <a:r>
              <a:rPr b="1" lang="it" sz="1600">
                <a:solidFill>
                  <a:srgbClr val="00FFFF"/>
                </a:solidFill>
              </a:rPr>
              <a:t> neurons</a:t>
            </a:r>
            <a:r>
              <a:rPr lang="it" sz="1600"/>
              <a:t>, while </a:t>
            </a:r>
            <a:r>
              <a:rPr b="1" lang="it" sz="1600">
                <a:solidFill>
                  <a:srgbClr val="00FFFF"/>
                </a:solidFill>
              </a:rPr>
              <a:t>Monk-2</a:t>
            </a:r>
            <a:r>
              <a:rPr lang="it" sz="1600"/>
              <a:t> features a </a:t>
            </a:r>
            <a:r>
              <a:rPr b="1" lang="it" sz="1600">
                <a:solidFill>
                  <a:srgbClr val="00FFFF"/>
                </a:solidFill>
              </a:rPr>
              <a:t>hidden layer with -- neurons</a:t>
            </a:r>
            <a:r>
              <a:rPr lang="it" sz="1600"/>
              <a:t>. </a:t>
            </a:r>
            <a:endParaRPr sz="1600"/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it" sz="1600"/>
              <a:t>To </a:t>
            </a:r>
            <a:r>
              <a:rPr b="1" lang="it" sz="1600">
                <a:solidFill>
                  <a:srgbClr val="00FFFF"/>
                </a:solidFill>
              </a:rPr>
              <a:t>prevent overfitting</a:t>
            </a:r>
            <a:r>
              <a:rPr lang="it" sz="1600"/>
              <a:t> and optimize training, </a:t>
            </a:r>
            <a:r>
              <a:rPr b="1" lang="it" sz="1600">
                <a:solidFill>
                  <a:srgbClr val="00FFFF"/>
                </a:solidFill>
              </a:rPr>
              <a:t>early stopping</a:t>
            </a:r>
            <a:r>
              <a:rPr lang="it" sz="1600"/>
              <a:t> has been implemented, with the validation loss serving as the criterion to halt the training process.</a:t>
            </a:r>
            <a:endParaRPr sz="1600"/>
          </a:p>
        </p:txBody>
      </p:sp>
      <p:sp>
        <p:nvSpPr>
          <p:cNvPr id="130" name="Google Shape;130;p18"/>
          <p:cNvSpPr txBox="1"/>
          <p:nvPr>
            <p:ph idx="2" type="body"/>
          </p:nvPr>
        </p:nvSpPr>
        <p:spPr>
          <a:xfrm>
            <a:off x="369600" y="724200"/>
            <a:ext cx="3837000" cy="38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4800">
                <a:solidFill>
                  <a:schemeClr val="dk1"/>
                </a:solidFill>
              </a:rPr>
              <a:t>Monk’s Architecture</a:t>
            </a:r>
            <a:endParaRPr sz="4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Monk’s Results</a:t>
            </a:r>
            <a:endParaRPr/>
          </a:p>
        </p:txBody>
      </p:sp>
      <p:graphicFrame>
        <p:nvGraphicFramePr>
          <p:cNvPr id="136" name="Google Shape;136;p19"/>
          <p:cNvGraphicFramePr/>
          <p:nvPr/>
        </p:nvGraphicFramePr>
        <p:xfrm>
          <a:off x="360625" y="11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{CE554501-469E-47B9-8B10-0BB8ECCFE873}</a:tableStyleId>
              </a:tblPr>
              <a:tblGrid>
                <a:gridCol w="1694325"/>
                <a:gridCol w="1694325"/>
                <a:gridCol w="1393050"/>
                <a:gridCol w="1909525"/>
                <a:gridCol w="1780400"/>
              </a:tblGrid>
              <a:tr h="73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Problem</a:t>
                      </a:r>
                      <a:endParaRPr b="1"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Hyperparameters(#Neurons, Eta, Momentum, Activation, Decay, Batch Size, Weight Initialization)</a:t>
                      </a:r>
                      <a:endParaRPr b="1"/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MSE</a:t>
                      </a:r>
                      <a:r>
                        <a:rPr b="1" lang="it"/>
                        <a:t>            (Training / Testing)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Accuracy (Training / Testing) 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73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MONK-1</a:t>
                      </a:r>
                      <a:endParaRPr b="1"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4, 0.13, 0.9, Sigmoid, 0, 2, Gaussian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0.0033 / 0.0046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100% / 100%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73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MONK-2</a:t>
                      </a:r>
                      <a:endParaRPr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4, 0.16, 0.9, Sigmoid, 0, 2, Glorot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0.0000 / 0.0000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100% / 100%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73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MONK-3</a:t>
                      </a:r>
                      <a:endParaRPr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4, 0.16, 0.85, Sigmoid, 0.75, 2, Gaussian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0.0276 / 0.0126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95.92% / 98.84%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Monk-1’s Results</a:t>
            </a:r>
            <a:endParaRPr/>
          </a:p>
        </p:txBody>
      </p:sp>
      <p:pic>
        <p:nvPicPr>
          <p:cNvPr id="142" name="Google Shape;142;p20" title="Monk-1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197" cy="315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Monk-2</a:t>
            </a:r>
            <a:r>
              <a:rPr lang="it"/>
              <a:t>’s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1" title="Monk-2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197" cy="315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Monk-3’s Results</a:t>
            </a:r>
            <a:endParaRPr/>
          </a:p>
        </p:txBody>
      </p:sp>
      <p:pic>
        <p:nvPicPr>
          <p:cNvPr id="154" name="Google Shape;154;p22" title="Monk-3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197" cy="315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000"/>
              <a:t>Working with CUP Dataset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idx="2" type="body"/>
          </p:nvPr>
        </p:nvSpPr>
        <p:spPr>
          <a:xfrm>
            <a:off x="5005775" y="585375"/>
            <a:ext cx="3723300" cy="356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/>
              <a:t>The CUP dataset was processed using a </a:t>
            </a:r>
            <a:r>
              <a:rPr b="1" lang="it" sz="1200">
                <a:solidFill>
                  <a:srgbClr val="00FFFF"/>
                </a:solidFill>
              </a:rPr>
              <a:t>5-fold cross-validation</a:t>
            </a:r>
            <a:r>
              <a:rPr lang="it" sz="1200"/>
              <a:t> framework, with each fold undergoing </a:t>
            </a:r>
            <a:r>
              <a:rPr b="1" lang="it" sz="1200">
                <a:solidFill>
                  <a:srgbClr val="00FFFF"/>
                </a:solidFill>
              </a:rPr>
              <a:t>randomized and grid-based hyperparameter optimization</a:t>
            </a:r>
            <a:r>
              <a:rPr lang="it" sz="1200"/>
              <a:t> over a custom MatrixMLP architecture.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/>
              <a:t>Key </a:t>
            </a:r>
            <a:r>
              <a:rPr b="1" lang="it" sz="1200">
                <a:solidFill>
                  <a:srgbClr val="00FFFF"/>
                </a:solidFill>
              </a:rPr>
              <a:t>regularization techniques</a:t>
            </a:r>
            <a:r>
              <a:rPr lang="it" sz="1200"/>
              <a:t> included </a:t>
            </a:r>
            <a:r>
              <a:rPr b="1" lang="it" sz="1200">
                <a:solidFill>
                  <a:srgbClr val="00FFFF"/>
                </a:solidFill>
              </a:rPr>
              <a:t>dropout, L1/L2 penalties,</a:t>
            </a:r>
            <a:r>
              <a:rPr lang="it" sz="1200">
                <a:solidFill>
                  <a:srgbClr val="FFFFFF"/>
                </a:solidFill>
              </a:rPr>
              <a:t> and </a:t>
            </a:r>
            <a:r>
              <a:rPr b="1" lang="it" sz="1200">
                <a:solidFill>
                  <a:srgbClr val="00FFFF"/>
                </a:solidFill>
              </a:rPr>
              <a:t>early stopping</a:t>
            </a:r>
            <a:r>
              <a:rPr lang="it" sz="1200"/>
              <a:t>, with multiple weight initialization strategies explored.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/>
              <a:t>A diverse search space spanned </a:t>
            </a:r>
            <a:r>
              <a:rPr b="1" lang="it" sz="1200">
                <a:solidFill>
                  <a:srgbClr val="00FFFF"/>
                </a:solidFill>
              </a:rPr>
              <a:t>activations, optimizers, learning rates,</a:t>
            </a:r>
            <a:r>
              <a:rPr lang="it" sz="1200">
                <a:solidFill>
                  <a:srgbClr val="FFFFFF"/>
                </a:solidFill>
              </a:rPr>
              <a:t> and </a:t>
            </a:r>
            <a:r>
              <a:rPr b="1" lang="it" sz="1200">
                <a:solidFill>
                  <a:srgbClr val="00FFFF"/>
                </a:solidFill>
              </a:rPr>
              <a:t>batch sizes</a:t>
            </a:r>
            <a:r>
              <a:rPr lang="it" sz="1200"/>
              <a:t>. Top configurations from random search were refined through </a:t>
            </a:r>
            <a:r>
              <a:rPr b="1" lang="it" sz="1200">
                <a:solidFill>
                  <a:srgbClr val="00FFFF"/>
                </a:solidFill>
              </a:rPr>
              <a:t>focused grid search</a:t>
            </a:r>
            <a:r>
              <a:rPr lang="it" sz="1200"/>
              <a:t>.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200"/>
              <a:t>The </a:t>
            </a:r>
            <a:r>
              <a:rPr b="1" lang="it" sz="1200">
                <a:solidFill>
                  <a:srgbClr val="00FFFF"/>
                </a:solidFill>
              </a:rPr>
              <a:t>best-performing model</a:t>
            </a:r>
            <a:r>
              <a:rPr lang="it" sz="1200"/>
              <a:t> was </a:t>
            </a:r>
            <a:r>
              <a:rPr b="1" lang="it" sz="1200">
                <a:solidFill>
                  <a:srgbClr val="00FFFF"/>
                </a:solidFill>
              </a:rPr>
              <a:t>retrained</a:t>
            </a:r>
            <a:r>
              <a:rPr lang="it" sz="1200"/>
              <a:t> on the full dataset and </a:t>
            </a:r>
            <a:r>
              <a:rPr b="1" lang="it" sz="1200">
                <a:solidFill>
                  <a:srgbClr val="00FFFF"/>
                </a:solidFill>
              </a:rPr>
              <a:t>evaluated on a blind test set</a:t>
            </a:r>
            <a:r>
              <a:rPr lang="it" sz="1200"/>
              <a:t> to ensure robust generalization.</a:t>
            </a:r>
            <a:endParaRPr sz="1200"/>
          </a:p>
        </p:txBody>
      </p:sp>
      <p:sp>
        <p:nvSpPr>
          <p:cNvPr id="165" name="Google Shape;165;p24"/>
          <p:cNvSpPr txBox="1"/>
          <p:nvPr>
            <p:ph idx="2" type="body"/>
          </p:nvPr>
        </p:nvSpPr>
        <p:spPr>
          <a:xfrm>
            <a:off x="369600" y="724200"/>
            <a:ext cx="3837000" cy="38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4800">
                <a:solidFill>
                  <a:schemeClr val="dk1"/>
                </a:solidFill>
              </a:rPr>
              <a:t>CUP</a:t>
            </a:r>
            <a:r>
              <a:rPr lang="it" sz="4800">
                <a:solidFill>
                  <a:schemeClr val="dk1"/>
                </a:solidFill>
              </a:rPr>
              <a:t>’s Architecture</a:t>
            </a:r>
            <a:endParaRPr sz="4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1087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ML Cup Approaches</a:t>
            </a:r>
            <a:endParaRPr/>
          </a:p>
        </p:txBody>
      </p:sp>
      <p:graphicFrame>
        <p:nvGraphicFramePr>
          <p:cNvPr id="171" name="Google Shape;171;p25"/>
          <p:cNvGraphicFramePr/>
          <p:nvPr/>
        </p:nvGraphicFramePr>
        <p:xfrm>
          <a:off x="952500" y="71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{CE554501-469E-47B9-8B10-0BB8ECCFE873}</a:tableStyleId>
              </a:tblPr>
              <a:tblGrid>
                <a:gridCol w="3619500"/>
                <a:gridCol w="3619500"/>
              </a:tblGrid>
              <a:tr h="352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lt1"/>
                          </a:solidFill>
                        </a:rPr>
                        <a:t>Hyperparameters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chemeClr val="lt1"/>
                          </a:solidFill>
                        </a:rPr>
                        <a:t>Possible Values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</a:tr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Layer Size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[60, 60], [80, 60], [100, 70], [120, 80], [150, 100, 50], [200, 200], [50, 50, 50]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Learning Rate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[0.00016, 0.00027, 0.00046, 0.00077, 0.00129, 0.00215, 0.00359]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Dropout Rate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[</a:t>
                      </a:r>
                      <a:r>
                        <a:rPr lang="it" sz="1200"/>
                        <a:t>0.0, 0.1, 0.2, 0.3</a:t>
                      </a:r>
                      <a:r>
                        <a:rPr lang="it" sz="1200"/>
                        <a:t>]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Momentum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[0.7, 0.8, 0.9]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Activation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Sigmoid, ReLU, Leaky_ReLU, ELU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Decay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0.0, 1e-4, 1e-3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Batch Size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[8, 16, 32, 64, 128]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Weight Initialization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Xavier, He, Glorot, Orthogonal, Range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Patience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50, 100, 150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CUP’s Results</a:t>
            </a:r>
            <a:endParaRPr/>
          </a:p>
        </p:txBody>
      </p:sp>
      <p:graphicFrame>
        <p:nvGraphicFramePr>
          <p:cNvPr id="177" name="Google Shape;177;p26"/>
          <p:cNvGraphicFramePr/>
          <p:nvPr/>
        </p:nvGraphicFramePr>
        <p:xfrm>
          <a:off x="360625" y="11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{CE554501-469E-47B9-8B10-0BB8ECCFE873}</a:tableStyleId>
              </a:tblPr>
              <a:tblGrid>
                <a:gridCol w="1694325"/>
                <a:gridCol w="1694325"/>
                <a:gridCol w="1393050"/>
                <a:gridCol w="1909525"/>
                <a:gridCol w="1780400"/>
              </a:tblGrid>
              <a:tr h="73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Problem</a:t>
                      </a:r>
                      <a:endParaRPr b="1"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Hyperparameters (#Neurons, Eta, Momentum, Activation, Decay, Batch Size, Weight Initialization, Patience)</a:t>
                      </a:r>
                      <a:endParaRPr b="1"/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Mean Squared Error (Training / Testing)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Loss Var  </a:t>
                      </a:r>
                      <a:r>
                        <a:rPr b="1" lang="it"/>
                        <a:t> (Training / Testing) </a:t>
                      </a:r>
                      <a:endParaRPr b="1"/>
                    </a:p>
                  </a:txBody>
                  <a:tcPr marT="91425" marB="91425" marR="91425" marL="91425" anchor="ctr"/>
                </a:tc>
              </a:tr>
              <a:tr h="73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CUP 2024</a:t>
                      </a:r>
                      <a:endParaRPr b="1"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[50, 50, 50], 0.0003, 0.8, Leaky_ReLU, 0.001, 64, Glorot, 100 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0.2248 / 0.1869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0.1124 / 0.0935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CUP’s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7" title="Cup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197" cy="315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idx="2" type="body"/>
          </p:nvPr>
        </p:nvSpPr>
        <p:spPr>
          <a:xfrm>
            <a:off x="4941200" y="499275"/>
            <a:ext cx="3880200" cy="364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400"/>
              <a:t>Working on this project was both challenging and rewarding. Building our own </a:t>
            </a:r>
            <a:r>
              <a:rPr b="1" lang="it" sz="1400">
                <a:solidFill>
                  <a:srgbClr val="00FFFF"/>
                </a:solidFill>
              </a:rPr>
              <a:t>neural network framework from scratch</a:t>
            </a:r>
            <a:r>
              <a:rPr lang="it" sz="1400"/>
              <a:t> pushed us to move beyond surface-level understanding and truly engage with the underlying mechanics of </a:t>
            </a:r>
            <a:r>
              <a:rPr b="1" lang="it" sz="1400">
                <a:solidFill>
                  <a:srgbClr val="00FFFF"/>
                </a:solidFill>
              </a:rPr>
              <a:t>training and optimization</a:t>
            </a:r>
            <a:r>
              <a:rPr lang="it" sz="1400"/>
              <a:t>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400"/>
              <a:t>Each design decision (from choosing activation functions to fine-tuning hyperparameters) taught us how even </a:t>
            </a:r>
            <a:r>
              <a:rPr b="1" lang="it" sz="1400">
                <a:solidFill>
                  <a:srgbClr val="00FFFF"/>
                </a:solidFill>
              </a:rPr>
              <a:t>subtle changes can greatly affect performance</a:t>
            </a:r>
            <a:r>
              <a:rPr lang="it" sz="1400"/>
              <a:t>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400"/>
              <a:t>This hands-on experience not only reinforced what we learned during the course but also gave us a deeper appreciation for the </a:t>
            </a:r>
            <a:r>
              <a:rPr b="1" lang="it" sz="1400">
                <a:solidFill>
                  <a:srgbClr val="00FFFF"/>
                </a:solidFill>
              </a:rPr>
              <a:t>trial-and-error nature of real-world machine learning</a:t>
            </a:r>
            <a:r>
              <a:rPr lang="it" sz="1400"/>
              <a:t>.</a:t>
            </a:r>
            <a:endParaRPr sz="1400"/>
          </a:p>
        </p:txBody>
      </p:sp>
      <p:sp>
        <p:nvSpPr>
          <p:cNvPr id="189" name="Google Shape;189;p28"/>
          <p:cNvSpPr txBox="1"/>
          <p:nvPr>
            <p:ph idx="2" type="body"/>
          </p:nvPr>
        </p:nvSpPr>
        <p:spPr>
          <a:xfrm>
            <a:off x="369600" y="724200"/>
            <a:ext cx="3837000" cy="38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4800">
                <a:solidFill>
                  <a:schemeClr val="dk1"/>
                </a:solidFill>
              </a:rPr>
              <a:t>Conclusion</a:t>
            </a:r>
            <a:endParaRPr sz="4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211675" y="2060100"/>
            <a:ext cx="4073100" cy="7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5000"/>
              <a:t>Thank You</a:t>
            </a:r>
            <a:endParaRPr sz="5000"/>
          </a:p>
        </p:txBody>
      </p:sp>
      <p:grpSp>
        <p:nvGrpSpPr>
          <p:cNvPr id="195" name="Google Shape;195;p29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196" name="Google Shape;196;p29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29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29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29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29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29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29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29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29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29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206" name="Google Shape;206;p29"/>
          <p:cNvSpPr/>
          <p:nvPr/>
        </p:nvSpPr>
        <p:spPr>
          <a:xfrm>
            <a:off x="8615120" y="1980719"/>
            <a:ext cx="286500" cy="286500"/>
          </a:xfrm>
          <a:prstGeom prst="ellipse">
            <a:avLst/>
          </a:prstGeom>
          <a:noFill/>
          <a:ln cap="flat" cmpd="sng" w="19050">
            <a:solidFill>
              <a:srgbClr val="F062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29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208" name="Google Shape;208;p29"/>
            <p:cNvSpPr/>
            <p:nvPr/>
          </p:nvSpPr>
          <p:spPr>
            <a:xfrm>
              <a:off x="1000000" y="2440003"/>
              <a:ext cx="4144235" cy="1631268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09" name="Google Shape;209;p29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9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9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9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9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9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29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218" name="Google Shape;218;p29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rgbClr val="D23369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19" name="Google Shape;219;p29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rgbClr val="D23369"/>
            </a:solidFill>
            <a:ln cap="flat" cmpd="sng" w="19050">
              <a:solidFill>
                <a:srgbClr val="D233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rgbClr val="D23369"/>
            </a:solidFill>
            <a:ln cap="flat" cmpd="sng" w="19050">
              <a:solidFill>
                <a:srgbClr val="D233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9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rgbClr val="D23369"/>
            </a:solidFill>
            <a:ln cap="flat" cmpd="sng" w="19050">
              <a:solidFill>
                <a:srgbClr val="D233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9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rgbClr val="D23369"/>
            </a:solidFill>
            <a:ln cap="flat" cmpd="sng" w="19050">
              <a:solidFill>
                <a:srgbClr val="D233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9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rgbClr val="D23369"/>
            </a:solidFill>
            <a:ln cap="flat" cmpd="sng" w="19050">
              <a:solidFill>
                <a:srgbClr val="D233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rgbClr val="D23369"/>
            </a:solidFill>
            <a:ln cap="flat" cmpd="sng" w="19050">
              <a:solidFill>
                <a:srgbClr val="D233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rgbClr val="D23369"/>
            </a:solidFill>
            <a:ln cap="flat" cmpd="sng" w="19050">
              <a:solidFill>
                <a:srgbClr val="D233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rgbClr val="D23369"/>
            </a:solidFill>
            <a:ln cap="flat" cmpd="sng" w="19050">
              <a:solidFill>
                <a:srgbClr val="D233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29"/>
          <p:cNvSpPr/>
          <p:nvPr/>
        </p:nvSpPr>
        <p:spPr>
          <a:xfrm>
            <a:off x="6600770" y="3123719"/>
            <a:ext cx="286500" cy="286500"/>
          </a:xfrm>
          <a:prstGeom prst="ellipse">
            <a:avLst/>
          </a:prstGeom>
          <a:noFill/>
          <a:ln cap="flat" cmpd="sng" w="19050">
            <a:solidFill>
              <a:srgbClr val="F062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/>
          <p:nvPr/>
        </p:nvSpPr>
        <p:spPr>
          <a:xfrm>
            <a:off x="5284725" y="1694225"/>
            <a:ext cx="286500" cy="286500"/>
          </a:xfrm>
          <a:prstGeom prst="ellipse">
            <a:avLst/>
          </a:prstGeom>
          <a:noFill/>
          <a:ln cap="flat" cmpd="sng" w="19050">
            <a:solidFill>
              <a:srgbClr val="F062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